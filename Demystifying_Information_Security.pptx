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Faculty Development Program · 90 Minutes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Demystifying </a:t>
            </a:r>
            <a:r>
              <a:rPr sz="3600" b="1">
                <a:solidFill>
                  <a:srgbClr val="0F0F0F"/>
                </a:solidFill>
                <a:latin typeface="Segoe UI"/>
              </a:rPr>
              <a:t>Information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Welcome to the Session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Welcome to the session! Congratulations on showing up to learn.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Information security is often seen as exclusively for IT departments, but today we change that.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This presentation deck acts as your personal reference manual for security guidelines.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📌 How to Use This Guide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Follow along during the session using the sidebar navigations.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Bookmark your links now and share them with colleagues later.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All exercises and labs require only a modern browser — Chrome/Firefox recommended.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Zero software installation is required for any exercises.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Introduction &amp; Setup · Page 1 of 4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Learning </a:t>
            </a:r>
            <a:r>
              <a:rPr sz="3600" b="1">
                <a:solidFill>
                  <a:srgbClr val="0F0F0F"/>
                </a:solidFill>
                <a:latin typeface="Segoe UI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Session Outcomes (Part 1)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Explain why universities and academic institutions are high-value targets for cyberattacks.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Define and apply the CIA Triad (Confidentiality, Integrity, Availability) in academia.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Describe the concepts of MFA, Zero Trust, and the Human Firewall.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Check breached credentials using haveibeenpwned.com.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Session Outcomes (Part 2)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Operate CyberChef to distinguish encoding, encryption, and hashing.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Analyse raw email headers using free browser tools to identify phishing.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Identify concrete ways to integrate information security topics into course syllabi.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Leave with a personalised, three-step security action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Introduction &amp; Setup · Page 1 of 4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Before We Begin </a:t>
            </a:r>
            <a:r>
              <a:rPr sz="3600" b="1">
                <a:solidFill>
                  <a:srgbClr val="0F0F0F"/>
                </a:solidFill>
                <a:latin typeface="Segoe UI"/>
              </a:rPr>
              <a:t>Setup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Browser &amp; Active Tabs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Open a modern browser. Chrome or Firefox is strongly recommended.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Open Tab 1 — Webbook. Keep the guide open throughout the session.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Open Tab 2 — Have I Been Pwned. Navigate to haveibeenpwned.com.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Open Tab 3 — CyberChef. Navigate to gchq.github.io/CyberChef.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Data Prep &amp; Notifications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Open Tab 4 — Google Admin Toolbox. Navigate to toolbox.googleapps.com/apps/messageheader.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Locate a recent email. Find any email in your inbox to copy headers.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Silence notifications but keep Wi-Fi on to avoid distractions.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💡 Pro-Tip: You can use a secondary/university email for labs for privacy.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1 · The Academic Threat Landscape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Why Universities </a:t>
            </a:r>
            <a:r>
              <a:rPr sz="3600" b="1">
                <a:solidFill>
                  <a:srgbClr val="0F0F0F"/>
                </a:solidFill>
                <a:latin typeface="Segoe UI"/>
              </a:rPr>
              <a:t>Are Prime Targets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19456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572000"/>
              </a:tblGrid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Factor</a:t>
                      </a:r>
                    </a:p>
                  </a:txBody>
                  <a:tcPr>
                    <a:solidFill>
                      <a:srgbClr val="1A43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The Academic Reality</a:t>
                      </a:r>
                    </a:p>
                  </a:txBody>
                  <a:tcPr>
                    <a:solidFill>
                      <a:srgbClr val="1A43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Why Attackers Love It</a:t>
                      </a:r>
                    </a:p>
                  </a:txBody>
                  <a:tcPr>
                    <a:solidFill>
                      <a:srgbClr val="1A439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Open culture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Academic freedom values open sharing and collaboration.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More entry points, less friction for movement.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Diverse user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Students, faculty, admin, visitors with varying security awareness.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Weakest link is easier to find and exploit.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Legacy infrastructure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Century-old systems alongside bleeding-edge research tools.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Unpatched legacy systems are vulnerable.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High-value 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Research in pharma, defence, AI, materials science.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Nation-state actors target research for espionage.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BYOD culture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Students and faculty use personal devices on campus Wi-Fi.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Unmanaged devices introduce vulnerabilities.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1 · The Academic Threat Landscape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Academic Cyber </a:t>
            </a:r>
            <a:r>
              <a:rPr sz="3600" b="1">
                <a:solidFill>
                  <a:srgbClr val="0F0F0F"/>
                </a:solidFill>
                <a:latin typeface="Segoe UI"/>
              </a:rPr>
              <a:t>Threats &amp; Incidents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Real-World Context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UHI Cyberattack (2021): Closed all 13 campuses and libraries simultaneously.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Indian Universities (2023): Stolen databases of student exams and PII.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Academic attacks increased by 75% globally between 2020 and 2023.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Universities store IP, research, PII, financial systems, and grant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The Insider Factor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Significant proportion of security incidents result from insider actions.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Typically well-meaning faculty, students, or staff, not malicious intent.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Examples: Clicking phishing links, reusing passwords, misconfiguring cloud storage.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Security awareness is everyone's problem and opportunity to help.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1 · The Academic Threat Landscape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The CIA </a:t>
            </a:r>
            <a:r>
              <a:rPr sz="3600" b="1">
                <a:solidFill>
                  <a:srgbClr val="0F0F0F"/>
                </a:solidFill>
                <a:latin typeface="Segoe UI"/>
              </a:rPr>
              <a:t>Triad Principle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3291840" cy="3291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A439C"/>
                </a:solidFill>
                <a:latin typeface="Segoe UI"/>
              </a:defRPr>
            </a:pPr>
            <a:r>
              <a:t>🔒 Confidentiality</a:t>
            </a:r>
          </a:p>
          <a:p>
            <a:pPr>
              <a:defRPr sz="1300">
                <a:solidFill>
                  <a:srgbClr val="0F0F0F"/>
                </a:solidFill>
                <a:latin typeface="Segoe UI"/>
              </a:defRPr>
            </a:pPr>
            <a:r>
              <a:t>Information should only be accessible to those who are authorised to see it. Keep secrets secret. Prevents leaks of personal, research, or financial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291840" cy="3291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A439C"/>
                </a:solidFill>
                <a:latin typeface="Segoe UI"/>
              </a:defRPr>
            </a:pPr>
            <a:r>
              <a:t>✅ Integrity</a:t>
            </a:r>
          </a:p>
          <a:p>
            <a:pPr>
              <a:defRPr sz="1300">
                <a:solidFill>
                  <a:srgbClr val="0F0F0F"/>
                </a:solidFill>
                <a:latin typeface="Segoe UI"/>
              </a:defRPr>
            </a:pPr>
            <a:r>
              <a:t>Information should be accurate and unaltered. Data should only be changed by authorised people through authorised processes.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3291840" cy="3291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A439C"/>
                </a:solidFill>
                <a:latin typeface="Segoe UI"/>
              </a:defRPr>
            </a:pPr>
            <a:r>
              <a:t>🌐 Availability</a:t>
            </a:r>
          </a:p>
          <a:p>
            <a:pPr>
              <a:defRPr sz="1300">
                <a:solidFill>
                  <a:srgbClr val="0F0F0F"/>
                </a:solidFill>
                <a:latin typeface="Segoe UI"/>
              </a:defRPr>
            </a:pPr>
            <a:r>
              <a:t>Systems and information should be accessible when authorised users need them. Downtime (e.g. from DDoS or ransomware) is a security failure.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1 · The Academic Threat Landscape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Grading System </a:t>
            </a:r>
            <a:r>
              <a:rPr sz="3600" b="1">
                <a:solidFill>
                  <a:srgbClr val="0F0F0F"/>
                </a:solidFill>
                <a:latin typeface="Segoe UI"/>
              </a:rPr>
              <a:t>Analogy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19456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572000"/>
              </a:tblGrid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CIA Principle</a:t>
                      </a:r>
                    </a:p>
                  </a:txBody>
                  <a:tcPr>
                    <a:solidFill>
                      <a:srgbClr val="1A43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Grading System Example</a:t>
                      </a:r>
                    </a:p>
                  </a:txBody>
                  <a:tcPr>
                    <a:solidFill>
                      <a:srgbClr val="1A43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Breach Scenario</a:t>
                      </a:r>
                    </a:p>
                  </a:txBody>
                  <a:tcPr>
                    <a:solidFill>
                      <a:srgbClr val="1A439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🔒 Confidentiality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Only student, faculty, and controller see grades.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A grade list leaks on a WhatsApp group before official release.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✅ 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A grade of 78 remains 78 — not altered by anyone.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An attacker hacks the SIS and changes a grade from 45 to 75.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🌐 Availability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Exam portal is functional when checking results.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A DDoS attack crashes the exam portal during results release.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1 · The Academic Threat Landscape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Multi-Factor </a:t>
            </a:r>
            <a:r>
              <a:rPr sz="3600" b="1">
                <a:solidFill>
                  <a:srgbClr val="0F0F0F"/>
                </a:solidFill>
                <a:latin typeface="Segoe UI"/>
              </a:rPr>
              <a:t>Authentication (MFA)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The Core Concept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Authentication proves you are who you say you are.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Passwords can be stolen, leaked, or guessed. MFA requires evidence from at least two categories: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🧠 Something you Know: Password, PIN, security question.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📱 Something you Have: OTP, Authenticator app code, security key.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👁️ Something you Are: Fingerprint, face ID, iris scan.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💡 The ATM Analogy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ATM requires a card (something you have) and a PIN (something you know). One factor is useless without the other.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MFA neutralizes phishing, credential stuffing, and brute force attacks.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Even if an attacker steals your password, they cannot log in without your phone.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1 · The Academic Threat Landscape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Zero Trust &amp; </a:t>
            </a:r>
            <a:r>
              <a:rPr sz="3600" b="1">
                <a:solidFill>
                  <a:srgbClr val="0F0F0F"/>
                </a:solidFill>
                <a:latin typeface="Segoe UI"/>
              </a:rPr>
              <a:t>The Human Firewall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Zero Trust Architecture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Core Principle: 'Never Trust, Always Verify'.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No user/device is trusted by default, regardless of network location.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Every access request is verified every single time.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Access is granted under 'least privilege' (minimum needed resources).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Checks device compliance, location, timing, and anomalies.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The Human Firewall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A firewall monitors network traffic; a human firewall is security-aware people.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Verizon DBIR: 74% to 82% of all data breaches involve a human element.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Technical controls are useless if a user clicks a phishing link or shares passwords.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Humans are the greatest vulnerability AND the most potent defence.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2 · Defender's Web Toolkit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Lab 1: Have I </a:t>
            </a:r>
            <a:r>
              <a:rPr sz="3600" b="1">
                <a:solidFill>
                  <a:srgbClr val="0F0F0F"/>
                </a:solidFill>
                <a:latin typeface="Segoe UI"/>
              </a:rPr>
              <a:t>Been Pwned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Data Breaches &amp; Password Reuse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Data Breach: Stolen user credentials sold or published on the dark web.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Credential Stuffing: Stolen credentials from Site A are used to attack Site B.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If you reuse passwords, a breach at a minor site compromises your university portal.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Database: HIBP holds over 13 billion compromised accounts.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Step-by-Step Exercise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1. Navigate to haveibeenpwned.com.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2. Type your primary email in the search bar.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3. Click the 'pwned?' button.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4. Review the details: name of breached service, date, and data type compromised.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5. Search other personal and work email addresses.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2 · Defender's Web Toolkit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Breached Account </a:t>
            </a:r>
            <a:r>
              <a:rPr sz="3600" b="1">
                <a:solidFill>
                  <a:srgbClr val="0F0F0F"/>
                </a:solidFill>
                <a:latin typeface="Segoe UI"/>
              </a:rPr>
              <a:t>Action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1. Change and Audit Passwords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Change your password on each breached service immediately.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Identify which accounts used that password and change them too.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Focus on breaches that exposed passwords first.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If the service no longer exists, just note the password it used.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2. Secure and Manage Accounts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Enable Multi-Factor Authentication (MFA) on your critical accounts immediately.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Adopt a password manager to handle unique, complex passwords.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Bitwarden is free and open-source; 1Password is an excellent alternative.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Ask your IT department about institutional licensing.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2 · Defender's Web Toolkit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Lab 2: CyberChef </a:t>
            </a:r>
            <a:r>
              <a:rPr sz="3600" b="1">
                <a:solidFill>
                  <a:srgbClr val="0F0F0F"/>
                </a:solidFill>
                <a:latin typeface="Segoe UI"/>
              </a:rPr>
              <a:t>Intro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What is CyberChef?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Created and open-sourced by GCHQ (UK Intelligence agency).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Intended for carrying out 'cyber' operations in a web browser.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Extremely powerful for data transforming, encoding, and encrypting.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Runs entirely locally — no data leaves your machine.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Uses a 'recipe' metaphor: drag operations, input data, see output.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Encoding vs. Encryption vs. Hashing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Encoding (Compatibility): Transforms format, not for security (e.g. Morse code, Base64). Easily reversed by anyone.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Encryption (Confidentiality): Unreadable without correct key (e.g. AES). Computationally infeasible to read without key.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Hashing (Integrity): One-way fingerprint of data. Used to verify integrity, not for secrecy (e.g. SHA-256).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2 · Defender's Web Toolkit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CyberChef in </a:t>
            </a:r>
            <a:r>
              <a:rPr sz="3600" b="1">
                <a:solidFill>
                  <a:srgbClr val="0F0F0F"/>
                </a:solidFill>
                <a:latin typeface="Segoe UI"/>
              </a:rPr>
              <a:t>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Base64 &amp; AES Exercises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Exercise 2A (Base64): Decode SGVsbG8gV29ybGQ=. Drag 'From Base64'. Output is 'Hello World'. Confirms Base64 is not secure.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Exercise 2B (AES): Input sensitive grade data. Use Key: MySecretKey12345 (UTF8, CBC). Observe ciphertext output.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Test decryption: Switch to 'AES Decrypt'. Use same key. Decrypts back to grade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Hashing &amp; Integrity Exercise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Exercise 2C (Hashing): Input 'The exam is on Tuesday at 10am' into MD5.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Observe 32-char hex hash output.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Avalanche Effect: Change 'T' to 't'. Notice the hash changes completely.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SHA-256 Hashing: Replace MD5 with SHA-256. Notice the 64-char stronger hash.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Integrity verification: Compare downloaded file hashes to official hashes.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2 · Defender's Web Toolkit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Lab 3: Email </a:t>
            </a:r>
            <a:r>
              <a:rPr sz="3600" b="1">
                <a:solidFill>
                  <a:srgbClr val="0F0F0F"/>
                </a:solidFill>
                <a:latin typeface="Segoe UI"/>
              </a:rPr>
              <a:t>Headers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Understanding Email Headers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Email headers are invisible metadata documenting the journey of the email.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Shows every mail server passed, timestamps, and origin IP.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Email clients hide headers to keep the interface clean.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Attackers rely on this invisibility to spoof senders.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Headers are read bottom-up: top headers are added by trusted servers.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Extracting Raw Headers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Gmail: Open email → Click 3-dot menu → Select 'Show original' → Copy.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Outlook Web: Open email → Click 3-dot menu → View → 'View message source'.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University Webmail (Roundcube/Zimbra): Search for 'View Source', 'Show Raw', or 'All Headers'.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Copy the entire raw block of text to clipboard.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2 · Defender's Web Toolkit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Phishing Header </a:t>
            </a:r>
            <a:r>
              <a:rPr sz="3600" b="1">
                <a:solidFill>
                  <a:srgbClr val="0F0F0F"/>
                </a:solidFill>
                <a:latin typeface="Segoe UI"/>
              </a:rPr>
              <a:t>Analysis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19456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572000"/>
              </a:tblGrid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Header Field</a:t>
                      </a:r>
                    </a:p>
                  </a:txBody>
                  <a:tcPr>
                    <a:solidFill>
                      <a:srgbClr val="1A43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It Tells You</a:t>
                      </a:r>
                    </a:p>
                  </a:txBody>
                  <a:tcPr>
                    <a:solidFill>
                      <a:srgbClr val="1A43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Can It Be Faked?</a:t>
                      </a:r>
                    </a:p>
                  </a:txBody>
                  <a:tcPr>
                    <a:solidFill>
                      <a:srgbClr val="1A439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From: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The sender's display name and address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✔ Yes — easily spoofed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Reply-To: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Where replies will go (often different in phishing)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✔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Received: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Mail servers chain of custody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⚠ Lower entries can be faked; top cannot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Return-Path: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Delivery failure address — true sender 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⚠ Often inconsistent in phishing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SPF/DKIM/DMARC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Authentication results — verified domain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❌ No — verified by server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Message-ID: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Unique identifier — check if domain matches From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0F0F"/>
                          </a:solidFill>
                          <a:latin typeface="Segoe UI"/>
                        </a:rPr>
                        <a:t>⚠ Often inconsistent in phishing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3 · Classroom Integration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Classroom </a:t>
            </a:r>
            <a:r>
              <a:rPr sz="3600" b="1">
                <a:solidFill>
                  <a:srgbClr val="0F0F0F"/>
                </a:solidFill>
                <a:latin typeface="Segoe UI"/>
              </a:rPr>
              <a:t>Integration (Part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Business &amp; Management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Corporate Governance: Case studies on Sony hack (2014) or Air India breach (2021) for board-level liability.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Marketing: Audit company privacy policies and consent flows.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Supply Chain: Vendor risk analysis (SolarWinds attack).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Entrepreneurship: Add 'Security &amp; Privacy' sections to business plans.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Law &amp; Legal Studies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Evidence: Discuss digital evidence admissibility, chain of custody, and hashing.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Privacy Law: Mock data breach response and notification letters under DPDP Act 2023.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Cyberlaw: Apply IT Act 2000 (Sec 43, 66) to credential stuffing cases.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3 · Classroom Integration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Classroom </a:t>
            </a:r>
            <a:r>
              <a:rPr sz="3600" b="1">
                <a:solidFill>
                  <a:srgbClr val="0F0F0F"/>
                </a:solidFill>
                <a:latin typeface="Segoe UI"/>
              </a:rPr>
              <a:t>Integration (Part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Healthcare &amp; Life Sciences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Medical Ethics: Ransomware attacks affecting patient record availability.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Public Health: Data integrity in outbreak surveillance systems.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Clinical Research: IRB data security compliance and encrypted sharing.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Humanities &amp; Social Sciences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Media Studies: Expose metadata (EXIF) to check image manipulation.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Sociology: Geopolitics of encryption and state-citizen power balances.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Education: Check student privacy in EdTech tools (what data is stored?).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3 · Classroom Integration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Personal Security </a:t>
            </a:r>
            <a:r>
              <a:rPr sz="3600" b="1">
                <a:solidFill>
                  <a:srgbClr val="0F0F0F"/>
                </a:solidFill>
                <a:latin typeface="Segoe UI"/>
              </a:rPr>
              <a:t>Action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3291840" cy="3291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A439C"/>
                </a:solidFill>
                <a:latin typeface="Segoe UI"/>
              </a:defRPr>
            </a:pPr>
            <a:r>
              <a:t>Step 1: Secure Accounts</a:t>
            </a:r>
          </a:p>
          <a:p>
            <a:pPr>
              <a:defRPr sz="1300">
                <a:solidFill>
                  <a:srgbClr val="0F0F0F"/>
                </a:solidFill>
                <a:latin typeface="Segoe UI"/>
              </a:defRPr>
            </a:pPr>
            <a:r>
              <a:t>Enable MFA on university and personal emails. Use authenticator apps over SMS. Change passwords flagged by haveibeenpwned.com immediately.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291840" cy="3291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A439C"/>
                </a:solidFill>
                <a:latin typeface="Segoe UI"/>
              </a:defRPr>
            </a:pPr>
            <a:r>
              <a:t>Step 2: Password Manager</a:t>
            </a:r>
          </a:p>
          <a:p>
            <a:pPr>
              <a:defRPr sz="1300">
                <a:solidFill>
                  <a:srgbClr val="0F0F0F"/>
                </a:solidFill>
                <a:latin typeface="Segoe UI"/>
              </a:defRPr>
            </a:pPr>
            <a:r>
              <a:t>Adopt Bitwarden (free/open-source) to store and generate unique, strong passwords. Stop reusing passwords across platforms.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3291840" cy="3291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A439C"/>
                </a:solidFill>
                <a:latin typeface="Segoe UI"/>
              </a:defRPr>
            </a:pPr>
            <a:r>
              <a:t>Step 3: Teach One Colleague</a:t>
            </a:r>
          </a:p>
          <a:p>
            <a:pPr>
              <a:defRPr sz="1300">
                <a:solidFill>
                  <a:srgbClr val="0F0F0F"/>
                </a:solidFill>
                <a:latin typeface="Segoe UI"/>
              </a:defRPr>
            </a:pPr>
            <a:r>
              <a:t>Share this webbook and help one colleague check Have I Been Pwned. A stronger human firewall protects the whole institution.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91495" y="-1600200"/>
            <a:ext cx="3200400" cy="3200400"/>
          </a:xfrm>
          <a:prstGeom prst="ellipse">
            <a:avLst/>
          </a:prstGeom>
          <a:solidFill>
            <a:srgbClr val="D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188720"/>
            <a:ext cx="548640" cy="548640"/>
          </a:xfrm>
          <a:prstGeom prst="ellipse">
            <a:avLst/>
          </a:prstGeom>
          <a:solidFill>
            <a:srgbClr val="1A4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Segoe UI"/>
              </a:defRPr>
            </a:pPr>
            <a:r>
              <a:t>Chapter 3 · Classroom Integration</a:t>
            </a:r>
          </a:p>
        </p:txBody>
      </p:sp>
      <p:pic>
        <p:nvPicPr>
          <p:cNvPr id="5" name="Picture 4" descr="logo_caree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52160"/>
            <a:ext cx="1828800" cy="536713"/>
          </a:xfrm>
          <a:prstGeom prst="rect">
            <a:avLst/>
          </a:prstGeom>
        </p:spPr>
      </p:pic>
      <p:pic>
        <p:nvPicPr>
          <p:cNvPr id="6" name="Picture 5" descr="logo_h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897880"/>
            <a:ext cx="1828800" cy="398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97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1A439C"/>
                </a:solidFill>
                <a:latin typeface="Segoe UI"/>
              </a:defRPr>
            </a:pPr>
            <a:r>
              <a:t>www.careercraftacademy.com</a:t>
            </a:r>
          </a:p>
        </p:txBody>
      </p:sp>
      <p:pic>
        <p:nvPicPr>
          <p:cNvPr id="8" name="Picture 7" descr="logo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760720"/>
            <a:ext cx="39098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439C"/>
                </a:solidFill>
                <a:latin typeface="Segoe UI"/>
              </a:rPr>
              <a:t>Resources &amp; </a:t>
            </a:r>
            <a:r>
              <a:rPr sz="3600" b="1">
                <a:solidFill>
                  <a:srgbClr val="0F0F0F"/>
                </a:solidFill>
                <a:latin typeface="Segoe UI"/>
              </a:rPr>
              <a:t>Further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Tools &amp; Certifications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haveibeenpwned.com — Credential breach checker.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gchq.github.io/CyberChef — Hashing and encryption.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toolbox.googleapps.com — Email header analyser.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Bitwarden — Open-source password manager.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Coursera Google Cybersecurity / Cybrary / SANS Cyber 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0F0F"/>
                </a:solidFill>
                <a:latin typeface="Segoe UI"/>
              </a:defRPr>
            </a:pPr>
            <a:r>
              <a:t>Policy &amp; Recommended Books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CERT-In — India's cyber incident response team.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DPDP Act 2023 — Digital Personal Data Protection Act India.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The Art of Invisibility by Kevin Mitnick.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Countdown to Zero Day by Kim Zetter (Stuxnet story).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Sandworm by Andy Greenberg (Nation-state threats).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439C"/>
                </a:solidFill>
                <a:latin typeface="Segoe UI"/>
              </a:rPr>
              <a:t>✔  </a:t>
            </a:r>
            <a:r>
              <a:rPr sz="1400">
                <a:solidFill>
                  <a:srgbClr val="0F0F0F"/>
                </a:solidFill>
                <a:latin typeface="Segoe UI"/>
              </a:rPr>
              <a:t>This Is How They Tell Me the World Ends by Nicole Perlroth.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